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id="2147483649" r:id="rId14"/>
  </p:notesMasterIdLst>
  <p:sldSz cx="12192000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作者：天外奇航（@hyperskysail，1253932197@qq.com，GXU-CN）。日期：2026-10-22。适用于 DSH 与 Codex。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期刊数据含 verified 标记；反爬未能验证的链接会明确提示。写作由 DSH 按 skill 起草，用户审阅。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27 个方法 + 9 条统计卡片；每条含原理、公式、假设、步骤、独立 Python 示例、常见坑、书中章节。代码不是原书代码。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18 运行、2 调试、3 在建、4 规划、2 提案、1 结束；22 开放、4 专有期、4 受限。25/30 链接在线验证；FAST/LHAASO/IXPE 给申请与分析建议。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DSH 通过 ctx.skills.register 注册；Codex 版以 plugin/skills 目录分发，命名空间 $dsh-astro-words:astro-*。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Codex 版已在本机 Codex CLI 0.149.0-alpha.4.3 实测安装为 installed, enabled。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F8FAFC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F8FAFC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F8FAFC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F8FAFC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F8FAFC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F8FAFC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F8FAFC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F8FAFC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F8FAFC"/>
          </a:solidFill>
          <a:latin typeface="Microsoft YaHei"/>
          <a:ea typeface="Microsoft YaHei"/>
        </a:defRPr>
      </a:lvl9pPr>
    </p:titleStyle>
    <p:bodyStyle>
      <a:lvl1pPr marL="342900" indent="-342900">
        <a:defRPr sz="2000">
          <a:solidFill>
            <a:srgbClr val="F8FAFC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F8FAFC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F8FAFC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F8FAFC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F8FAFC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F8FAFC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F8FAFC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F8FAFC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F8FAFC"/>
          </a:solidFill>
          <a:latin typeface="Microsoft YaHei"/>
          <a:ea typeface="Microsoft YaHei"/>
        </a:defRPr>
      </a:lvl9pPr>
    </p:bodyStyle>
    <p:otherStyle>
      <a:lvl1pPr marL="342900" indent="-342900">
        <a:defRPr sz="2000">
          <a:solidFill>
            <a:srgbClr val="F8FAFC"/>
          </a:solidFill>
          <a:latin typeface="Microsoft YaHei"/>
          <a:ea typeface="Microsoft YaHei"/>
        </a:defRPr>
      </a:lvl1pPr>
      <a:lvl2pPr marL="685800" indent="-342900">
        <a:defRPr sz="1900">
          <a:solidFill>
            <a:srgbClr val="F8FAFC"/>
          </a:solidFill>
          <a:latin typeface="Microsoft YaHei"/>
          <a:ea typeface="Microsoft YaHei"/>
        </a:defRPr>
      </a:lvl2pPr>
      <a:lvl3pPr marL="1028700" indent="-342900">
        <a:defRPr sz="1800">
          <a:solidFill>
            <a:srgbClr val="F8FAFC"/>
          </a:solidFill>
          <a:latin typeface="Microsoft YaHei"/>
          <a:ea typeface="Microsoft YaHei"/>
        </a:defRPr>
      </a:lvl3pPr>
      <a:lvl4pPr marL="1371600" indent="-342900">
        <a:defRPr sz="1700">
          <a:solidFill>
            <a:srgbClr val="F8FAFC"/>
          </a:solidFill>
          <a:latin typeface="Microsoft YaHei"/>
          <a:ea typeface="Microsoft YaHei"/>
        </a:defRPr>
      </a:lvl4pPr>
      <a:lvl5pPr marL="1714500" indent="-342900">
        <a:defRPr sz="1600">
          <a:solidFill>
            <a:srgbClr val="F8FAFC"/>
          </a:solidFill>
          <a:latin typeface="Microsoft YaHei"/>
          <a:ea typeface="Microsoft YaHei"/>
        </a:defRPr>
      </a:lvl5pPr>
      <a:lvl6pPr marL="2057400" indent="-342900">
        <a:defRPr sz="1500">
          <a:solidFill>
            <a:srgbClr val="F8FAFC"/>
          </a:solidFill>
          <a:latin typeface="Microsoft YaHei"/>
          <a:ea typeface="Microsoft YaHei"/>
        </a:defRPr>
      </a:lvl6pPr>
      <a:lvl7pPr marL="2400300" indent="-342900">
        <a:defRPr sz="1400">
          <a:solidFill>
            <a:srgbClr val="F8FAFC"/>
          </a:solidFill>
          <a:latin typeface="Microsoft YaHei"/>
          <a:ea typeface="Microsoft YaHei"/>
        </a:defRPr>
      </a:lvl7pPr>
      <a:lvl8pPr marL="2743200" indent="-342900">
        <a:defRPr sz="1300">
          <a:solidFill>
            <a:srgbClr val="F8FAFC"/>
          </a:solidFill>
          <a:latin typeface="Microsoft YaHei"/>
          <a:ea typeface="Microsoft YaHei"/>
        </a:defRPr>
      </a:lvl8pPr>
      <a:lvl9pPr marL="3086100" indent="-342900">
        <a:defRPr sz="1200">
          <a:solidFill>
            <a:srgbClr val="F8FAFC"/>
          </a:solidFill>
          <a:latin typeface="Microsoft YaHei"/>
          <a:ea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400" b="1" dirty="0">
                <a:solidFill>
                  <a:srgbClr val="F8FAFC"/>
                </a:solidFill>
                <a:latin typeface="Microsoft YaHei"/>
                <a:ea typeface="Microsoft YaHei"/>
              </a:rPr>
              <a:t>astro-ph-researcher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2200" b="0" dirty="0">
                <a:solidFill>
                  <a:srgbClr val="8E9AAA"/>
                </a:solidFill>
                <a:latin typeface="Microsoft YaHei"/>
                <a:ea typeface="Microsoft YaHei"/>
              </a:rPr>
              <a:t>天文术语 · 文献库 · 写作 · 数据工作台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DSH / Codex 插件 / 9 个 Agent Skills / v2.0.0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01 / 12</a:t>
            </a:r>
          </a:p>
        </p:txBody>
      </p:sp>
      <p:sp>
        <p:nvSpPr>
          <p:cNvPr id="2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从读文献到写论文，中间断了四次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为什么需要它</a:t>
            </a: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术语译名不统一：同一英文词，教材与机翻给出不同中文名。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文献散落在 SciX / ADS / arXiv / 出版商页面，读完就忘。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从文献到代码、从数据到论文，没有一条可复现的链。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望远镜/卫星的数据入口、软件、数据政策各不相同。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02 / 12</a:t>
            </a:r>
          </a:p>
        </p:txBody>
      </p:sp>
      <p:sp>
        <p:nvSpPr>
          <p:cNvPr id="3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ccent bar"/>
          <p:cNvSpPr/>
          <p:nvPr/>
        </p:nvSpPr>
        <p:spPr>
          <a:xfrm>
            <a:off x="914400" y="1900000"/>
            <a:ext cx="200000" cy="280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/>
        </p:txBody>
      </p:sp>
      <p:sp>
        <p:nvSpPr>
          <p:cNvPr id="32" name="Statement"/>
          <p:cNvSpPr txBox="1"/>
          <p:nvPr/>
        </p:nvSpPr>
        <p:spPr>
          <a:xfrm>
            <a:off x="1500000" y="1950000"/>
            <a:ext cx="9400000" cy="2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600" b="1" dirty="0">
                <a:solidFill>
                  <a:srgbClr val="F8FAFC"/>
                </a:solidFill>
                <a:latin typeface="Microsoft YaHei"/>
                <a:ea typeface="Microsoft YaHei"/>
              </a:rPr>
              <a:t>一条工作流</a:t>
            </a:r>
          </a:p>
        </p:txBody>
      </p:sp>
      <p:sp>
        <p:nvSpPr>
          <p:cNvPr id="33" name="Subtitle"/>
          <p:cNvSpPr txBox="1"/>
          <p:nvPr/>
        </p:nvSpPr>
        <p:spPr>
          <a:xfrm>
            <a:off x="1520000" y="4900000"/>
            <a:ext cx="90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800" b="0" dirty="0">
                <a:solidFill>
                  <a:srgbClr val="8E9AAA"/>
                </a:solidFill>
                <a:latin typeface="Microsoft YaHei"/>
                <a:ea typeface="Microsoft YaHei"/>
              </a:rPr>
              <a:t>查词 → 文献 → 文献库 → 写作 → 数据 → 设备/工作流</a:t>
            </a:r>
          </a:p>
        </p:txBody>
      </p:sp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03 / 12</a:t>
            </a:r>
          </a:p>
        </p:txBody>
      </p:sp>
      <p:sp>
        <p:nvSpPr>
          <p:cNvPr id="4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NADC 审定译名 + 离线兜底</a:t>
            </a:r>
          </a:p>
        </p:txBody>
      </p:sp>
      <p:sp>
        <p:nvSpPr>
          <p:cNvPr id="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术语：先查准，再谈理解</a:t>
            </a:r>
          </a:p>
        </p:txBody>
      </p:sp>
      <p:sp>
        <p:nvSpPr>
          <p:cNvPr id="4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实时查国家天文台 NADC：中文名、台湾名、出版状态、依据书目、最后修订。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官方离线词表 r241020：31,758 条 EN↔ZH，断网也能查。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同名词条消歧：一个英文名对应多个词条时，逐条切换并记录 id。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严格区分「NADC 审定定义」与「DSH 释义」，不把 AI 解释冒充名词委原文。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04 / 12</a:t>
            </a:r>
          </a:p>
        </p:txBody>
      </p:sp>
      <p:sp>
        <p:nvSpPr>
          <p:cNvPr id="5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相关性 &gt; 时间 &gt; 引用数</a:t>
            </a:r>
          </a:p>
        </p:txBody>
      </p:sp>
      <p:sp>
        <p:nvSpPr>
          <p:cNvPr id="5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文献：找对，再存住</a:t>
            </a:r>
          </a:p>
        </p:txBody>
      </p:sp>
      <p:sp>
        <p:nvSpPr>
          <p:cNvPr id="5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支持 OpenAlex / Crossref / ADS / arXiv，按主题检索并给出 DOI、SciX、ADS、arXiv、PDF 链接。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参考文献库保留：前三位作者（姓名/ORCID）、单位、期刊卷期页、DOI、摘要。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可写「分析总结」与「可引用关键结果」，按领域/关键词/专题分类。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F8FAFC"/>
                </a:solidFill>
                <a:latin typeface="Microsoft YaHei"/>
                <a:ea typeface="Microsoft YaHei"/>
              </a:rPr>
              <a:t>一键生成 BibTeX / APA / GB 7714 / MLA，或导出 .bib 进 Overleaf。</a:t>
            </a:r>
          </a:p>
        </p:txBody>
      </p:sp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05 / 12</a:t>
            </a:r>
          </a:p>
        </p:txBody>
      </p:sp>
      <p:sp>
        <p:nvSpPr>
          <p:cNvPr id="6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先框架，后写作</a:t>
            </a:r>
          </a:p>
        </p:txBody>
      </p:sp>
      <p:sp>
        <p:nvSpPr>
          <p:cNvPr id="6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写作：从结果到投稿</a:t>
            </a:r>
          </a:p>
        </p:txBody>
      </p:sp>
      <p:graphicFrame>
        <p:nvGraphicFramePr>
          <p:cNvPr id="63" name="Table"/>
          <p:cNvGraphicFramePr>
            <a:graphicFrameLocks noGrp="1"/>
          </p:cNvGraphicFramePr>
          <p:nvPr/>
        </p:nvGraphicFramePr>
        <p:xfrm>
          <a:off x="900000" y="1950000"/>
          <a:ext cx="10300000" cy="210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英文期刊论文 / 学位论文；多文件上传；可选 DSH 分析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目标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14 个期刊；21 个高校/院所格式（含版本）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格式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作者指南 / Overleaf / GB 7714 / 学校规范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v2 研究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r>
                        <a:t>research-workflow / sections / confirm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06 / 12</a:t>
            </a:r>
          </a:p>
        </p:txBody>
      </p:sp>
      <p:sp>
        <p:nvSpPr>
          <p:cNvPr id="7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通用数据处理与统计</a:t>
            </a:r>
          </a:p>
        </p:txBody>
      </p:sp>
      <p:sp>
        <p:nvSpPr>
          <p:cNvPr id="7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数据方法库：把统计讲通</a:t>
            </a:r>
          </a:p>
        </p:txBody>
      </p:sp>
      <p:graphicFrame>
        <p:nvGraphicFramePr>
          <p:cNvPr id="73" name="Table"/>
          <p:cNvGraphicFramePr>
            <a:graphicFrameLocks noGrp="1"/>
          </p:cNvGraphicFramePr>
          <p:nvPr/>
        </p:nvGraphicFramePr>
        <p:xfrm>
          <a:off x="900000" y="1950000"/>
          <a:ext cx="10300000" cy="252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图像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CCD 校准、宇宙线、叠加、测光、WCS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统计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分布、KS、误差传递、置信区间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拟合/时间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最小二乘、Lomb–Scargle、相位折叠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推断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最大似然、贝叶斯、MCMC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机器学习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PCA、SVM、kNN、GMM、随机森林、神经网络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</a:tbl>
          </a:graphicData>
        </a:graphic>
      </p:graphicFrame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07 / 12</a:t>
            </a:r>
          </a:p>
        </p:txBody>
      </p:sp>
      <p:sp>
        <p:nvSpPr>
          <p:cNvPr id="8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四类政策：开放 / 专有期 / 受限 / 闭源</a:t>
            </a:r>
          </a:p>
        </p:txBody>
      </p:sp>
      <p:sp>
        <p:nvSpPr>
          <p:cNvPr id="8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观测设备：30 个数据入口</a:t>
            </a:r>
          </a:p>
        </p:txBody>
      </p:sp>
      <p:graphicFrame>
        <p:nvGraphicFramePr>
          <p:cNvPr id="83" name="Table"/>
          <p:cNvGraphicFramePr>
            <a:graphicFrameLocks noGrp="1"/>
          </p:cNvGraphicFramePr>
          <p:nvPr/>
        </p:nvGraphicFramePr>
        <p:xfrm>
          <a:off x="900000" y="1950000"/>
          <a:ext cx="10300000" cy="210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代表设施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X 射线 / 伽马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Chandra、XMM、Swift、NuSTAR、Fermi、IXPE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光学 / 红外 / 射电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JWST、HST、TESS、ALMA、VLA、FAST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多信使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IceCube、LIGO/Virgo/KAGRA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v2 研究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r>
                        <a:t>research-workflow / sections / confirm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08 / 12</a:t>
            </a:r>
          </a:p>
        </p:txBody>
      </p:sp>
      <p:sp>
        <p:nvSpPr>
          <p:cNvPr id="9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4 个基础 + 4 个写作目标风格</a:t>
            </a:r>
          </a:p>
        </p:txBody>
      </p:sp>
      <p:sp>
        <p:nvSpPr>
          <p:cNvPr id="9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r>
              <a:t>九个 Agent Skills</a:t>
            </a:r>
          </a:p>
        </p:txBody>
      </p:sp>
      <p:graphicFrame>
        <p:nvGraphicFramePr>
          <p:cNvPr id="93" name="Table"/>
          <p:cNvGraphicFramePr>
            <a:graphicFrameLocks noGrp="1"/>
          </p:cNvGraphicFramePr>
          <p:nvPr/>
        </p:nvGraphicFramePr>
        <p:xfrm>
          <a:off x="900000" y="1950000"/>
          <a:ext cx="10300000" cy="210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r>
                        <a:t>类别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技能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基础 4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literature / code / journal / thesis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目标 4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r>
                        <a:t>goals / discovery / critical / incremental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批判/上限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refutation / null-limit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r>
                        <a:t>v2 研究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r>
                        <a:t>research-workflow / sections / confirm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09 / 12</a:t>
            </a:r>
          </a:p>
        </p:txBody>
      </p:sp>
      <p:sp>
        <p:nvSpPr>
          <p:cNvPr id="10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0EA5E9"/>
                </a:solidFill>
                <a:latin typeface="Microsoft YaHei"/>
                <a:ea typeface="Microsoft YaHei"/>
              </a:rPr>
              <a:t>DSH 侧栏 / Codex CLI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F8FAFC"/>
                </a:solidFill>
                <a:latin typeface="Microsoft YaHei"/>
                <a:ea typeface="Microsoft YaHei"/>
              </a:rPr>
              <a:t>两种安装方式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900000" y="1950000"/>
          <a:ext cx="10300000" cy="2520000"/>
        </p:xfrm>
        <a:graphic>
          <a:graphicData uri="http://schemas.openxmlformats.org/drawingml/2006/table">
            <a:tbl>
              <a:tblPr firstRow="1" bandRow="1"/>
              <a:tblGrid>
                <a:gridCol w="5150000"/>
                <a:gridCol w="5150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平台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B1120"/>
                          </a:solidFill>
                          <a:latin typeface="Microsoft YaHei"/>
                          <a:ea typeface="Microsoft YaHei"/>
                        </a:rPr>
                        <a:t>安装</a:t>
                      </a:r>
                    </a:p>
                  </a:txBody>
                  <a:tcPr marL="91440" marR="91440" anchor="ctr">
                    <a:solidFill>
                      <a:srgbClr val="0EA5E9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DSH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profile bundle + junction；刷新页面，必要时重启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Codex 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codex plugin marketplace add .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Codex 2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codex plugin add astro-ph-researcher@astro-ph-researcher-local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仅 skill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bash codex/install-skills.sh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数据 CLI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</a:rPr>
                        <a:t>node scripts/astro-cli.mjs stats</a:t>
                      </a:r>
                    </a:p>
                  </a:txBody>
                  <a:tcPr marL="91440" marR="91440" anchor="ctr">
                    <a:solidFill>
                      <a:srgbClr val="161D26"/>
                    </a:solidFill>
                  </a:tcPr>
                </a:tc>
              </a:tr>
            </a:tbl>
          </a:graphicData>
        </a:graphic>
      </p:graphicFrame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10 / 12</a:t>
            </a:r>
          </a:p>
        </p:txBody>
      </p:sp>
      <p:sp>
        <p:nvSpPr>
          <p:cNvPr id="11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Accent bar"/>
          <p:cNvSpPr/>
          <p:nvPr/>
        </p:nvSpPr>
        <p:spPr>
          <a:xfrm>
            <a:off x="914400" y="1900000"/>
            <a:ext cx="200000" cy="280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/>
        </p:txBody>
      </p:sp>
      <p:sp>
        <p:nvSpPr>
          <p:cNvPr id="112" name="Statement"/>
          <p:cNvSpPr txBox="1"/>
          <p:nvPr/>
        </p:nvSpPr>
        <p:spPr>
          <a:xfrm>
            <a:off x="1500000" y="1950000"/>
            <a:ext cx="9400000" cy="2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600" b="1" dirty="0">
                <a:solidFill>
                  <a:srgbClr val="F8FAFC"/>
                </a:solidFill>
                <a:latin typeface="Microsoft YaHei"/>
                <a:ea typeface="Microsoft YaHei"/>
              </a:rPr>
              <a:t>质量与边界</a:t>
            </a:r>
          </a:p>
        </p:txBody>
      </p:sp>
      <p:sp>
        <p:nvSpPr>
          <p:cNvPr id="113" name="Subtitle"/>
          <p:cNvSpPr txBox="1"/>
          <p:nvPr/>
        </p:nvSpPr>
        <p:spPr>
          <a:xfrm>
            <a:off x="1520000" y="4900000"/>
            <a:ext cx="90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800" b="0" dirty="0">
                <a:solidFill>
                  <a:srgbClr val="8E9AAA"/>
                </a:solidFill>
                <a:latin typeface="Microsoft YaHei"/>
                <a:ea typeface="Microsoft YaHei"/>
              </a:rPr>
              <a:t>Host/API/数据通过 8 组测试；登录态 Web UI 未逐页点击验收；书籍未逐页精读；30 个设施是 curated 子集；云端同步尚未实现。</a:t>
            </a: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11 / 12</a:t>
            </a:r>
          </a:p>
        </p:txBody>
      </p:sp>
      <p:sp>
        <p:nvSpPr>
          <p:cNvPr id="12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F8FAFC"/>
                </a:solidFill>
                <a:latin typeface="Microsoft YaHei"/>
                <a:ea typeface="Microsoft YaHei"/>
              </a:rPr>
              <a:t>可核验、可复现</a:t>
            </a:r>
          </a:p>
        </p:txBody>
      </p:sp>
      <p:sp>
        <p:nvSpPr>
          <p:cNvPr id="12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2000" b="1" dirty="0">
                <a:solidFill>
                  <a:srgbClr val="0EA5E9"/>
                </a:solidFill>
                <a:latin typeface="Microsoft YaHei"/>
                <a:ea typeface="Microsoft YaHei"/>
              </a:rPr>
              <a:t>GitHub：README + presentation/astro-ph-researcher.pdf · 1253932197@qq.com · GXU-CN</a:t>
            </a:r>
          </a:p>
        </p:txBody>
      </p:sp>
      <p:sp>
        <p:nvSpPr>
          <p:cNvPr id="1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8E9AAA"/>
                </a:solidFill>
                <a:latin typeface="Microsoft YaHei"/>
                <a:ea typeface="Microsoft YaHei"/>
              </a:rPr>
              <a:t>12 / 12</a:t>
            </a:r>
          </a:p>
        </p:txBody>
      </p:sp>
      <p:sp>
        <p:nvSpPr>
          <p:cNvPr id="130" name="Brand footer"/>
          <p:cNvSpPr txBox="1"/>
          <p:nvPr/>
        </p:nvSpPr>
        <p:spPr>
          <a:xfrm>
            <a:off x="777240" y="6355080"/>
            <a:ext cx="850392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000">
                <a:solidFill>
                  <a:srgbClr val="8E9AAA"/>
                </a:solidFill>
                <a:latin typeface="Microsoft YaHei"/>
              </a:rPr>
              <a:t>astro-ph-researcher v2.0.0 · 天外奇航 · GXU-CN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dsh-ppt Swiss Pulse">
  <a:themeElements>
    <a:clrScheme name="dsh-ppt">
      <a:dk1>
        <a:srgbClr val="F8FAFC"/>
      </a:dk1>
      <a:lt1>
        <a:srgbClr val="0B1120"/>
      </a:lt1>
      <a:dk2>
        <a:srgbClr val="8E9AAA"/>
      </a:dk2>
      <a:lt2>
        <a:srgbClr val="161D26"/>
      </a:lt2>
      <a:accent1>
        <a:srgbClr val="0EA5E9"/>
      </a:accent1>
      <a:accent2>
        <a:srgbClr val="FFB300"/>
      </a:accent2>
      <a:accent3>
        <a:srgbClr val="F8FAFC"/>
      </a:accent3>
      <a:accent4>
        <a:srgbClr val="8E9AAA"/>
      </a:accent4>
      <a:accent5>
        <a:srgbClr val="0EA5E9"/>
      </a:accent5>
      <a:accent6>
        <a:srgbClr val="FFB300"/>
      </a:accent6>
      <a:hlink>
        <a:srgbClr val="0EA5E9"/>
      </a:hlink>
      <a:folHlink>
        <a:srgbClr val="FFB300"/>
      </a:folHlink>
    </a:clrScheme>
    <a:fontScheme name="dsh-ppt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</Application>
  <PresentationFormat>Widescreen</PresentationFormat>
  <Slides>12</Slides>
  <Notes>6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dsh-astro-words</dc:title>
  <dc:creator>dsh-ppt</dc:creator>
  <cp:lastModifiedBy>dsh-ppt</cp:lastModifiedBy>
</cp:coreProperties>
</file>